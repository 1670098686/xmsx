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77" r:id="rId6"/>
    <p:sldId id="257" r:id="rId7"/>
    <p:sldId id="258" r:id="rId8"/>
    <p:sldId id="260" r:id="rId9"/>
    <p:sldId id="261" r:id="rId10"/>
    <p:sldId id="263" r:id="rId11"/>
    <p:sldId id="264" r:id="rId12"/>
    <p:sldId id="265" r:id="rId13"/>
    <p:sldId id="270" r:id="rId14"/>
    <p:sldId id="271" r:id="rId15"/>
    <p:sldId id="27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8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91" autoAdjust="0"/>
  </p:normalViewPr>
  <p:slideViewPr>
    <p:cSldViewPr snapToGrid="0" showGuides="1">
      <p:cViewPr varScale="1">
        <p:scale>
          <a:sx n="63" d="100"/>
          <a:sy n="63" d="100"/>
        </p:scale>
        <p:origin x="102" y="138"/>
      </p:cViewPr>
      <p:guideLst>
        <p:guide orient="horz" pos="164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这份汇报讲的是一个面向大学生的桌面端文献阅读整理工具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它想解决的核心问题是：现有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AI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解析工具都是"上传、返回结果"的黑盒，编造了结论也无从察觉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我们的做法是把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AI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放进一个本地智能体里编排，用本地中间件给它取证，再用三重校验兜住幻觉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接下来的十五分钟，我会先讲背景与目标，再讲五层架构和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Agent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状态图，然后是六个功能模块、数据库设计，最后是亮点与展望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整份汇报分七章，主线是"为什么这么选、怎么实现、凭什么可信"。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前三章讲背景、架构和功能，第四、五章讲数据落地和创新点，最后两章是技术栈与展望。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右下角这三个数字是后面反复引用的口径：文件数、表结构规模、测试基线。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我们先看清楚问题再谈方案。第一条是资料散乱，格式多、入口杂。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第二条是时间成本，六个维度人工读一篇要二三十分钟。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第三条最关键：现在的 AI 工具没有校验，幻觉和真话在界面上无法区分。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第四条是隐私，把全文和密钥交给云端，学生场景其实没有合规依据。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这四条最后收敛成三条硬约束：数据不出本机、结论可回溯、链路可降级。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架构从上到下五层，箭头表示允许的调用方向。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界面层只认业务层；业务层是最重的编排者，它可以调 Agent、调工具、也直接调数据。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Agent 层只碰工具层，不直接写数据库，这样换存储不影响智能体。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最底下那行小字是真实的依赖白名单，评审核架构时看这一行就够了。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这条状态图是整个 Agent 的骨架，五个节点，两个决策点。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plan 先做版式体检，act 只执行一个工具，observe 把结果灌回 state，reflect 决定继续取证还是收尾。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队列清空后进 verify，通过就 finish，没通过进 refine 按维度补救。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refine 有动作就回 act，没动作就直接 finish——保证任何状态下都能收尾，不会死循环。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导入看着简单，实际上五个步骤每一步都可能埋坑。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关键是第二步：按内容哈希去重，而不是按文件名，改了名再拖进来也能认出来。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第四步只存相对路径，是为了让整个数据目录可以整体搬家。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右边这段代码就是 business 层真实的结构，五步一一对应。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这是整个项目最核心的一页：我们把本地预处理从"必经阶段"降成了"条件尾部"。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模型拿到的是完整 PDF，不再是丢失版式信息的纯文本，所以双栏、扫描件、表格页它都能自己看。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通读过程中它想看图就调 ocr_page，想拆表就调 extract_tables，工具在本地跑，结果回灌。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右边四条上限是防死循环的硬约束，任何一条触发都会停下来。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三级降级的顺序是固定的：先试原件，被网关拒绝才退到纯文本，而且必须弹窗拿到用户授权。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再退一步就是纯本地规则，没有模型也能出六维度结果，界面不会出现红色报错。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信任旁路是为了速度：原件都读成功了，还拿线性文本去否证它，只会误伤。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注意最后一句话，降级链路一定走完整三重校验，这条边界不能松。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九张表按职责分三层，讲的时候按层走，不要一张一张念。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主数据是三张：文献、报告、批注，一次处理的全过程都在这里留痕。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关系层最值得注意的是 category_tag 用自关联做树，文献和标签靠中间表连。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外键统一级联删除，是为了避免删文献之后留下一堆孤儿批注。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这一页想讲的不是"我们用了 AI"，而是五个和常规做法相反的决定。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第一个是架构倒置：先让 AI 通读，本地预处理只在必要时补位，这样 AI 不会被正则误判带偏。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第三个三重校验是答辩最容易被追问的地方，三个阈值都是可复算的。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第四个进度双泳道解决的是用户体验：进度条倒退比慢更让人焦虑。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结尾不做口号页，回到项目的一句话定位。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四个数字是最有说服力的收尾：文件数、测试数、表数、降级层数。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如果时间还够，可以在这里补一句现场演示的入口，然后结束。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 txBox="1"/>
          <p:nvPr/>
        </p:nvSpPr>
        <p:spPr>
          <a:xfrm>
            <a:off x="914400" y="11684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3B2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软件工程项目实训 · 项目成果汇报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914400" y="1600200"/>
            <a:ext cx="7874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文献阅读整理 Agent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914400" y="2565400"/>
            <a:ext cx="787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BFD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功能演示说明与系统架构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6510">
            <a:off x="914406" y="3371850"/>
            <a:ext cx="670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914400" y="3632200"/>
            <a:ext cx="711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zh-CN" altLang="en-US" sz="1500" b="0" i="0" u="none" strike="noStrike">
                <a:solidFill>
                  <a:srgbClr val="C6D4E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刘浚哲（后端）、刘俊源（前端）、朱展裕（测试）、郭城（</a:t>
            </a:r>
            <a:r>
              <a:rPr lang="zh-CN" altLang="en-US" sz="1500" b="0" i="0" u="none" strike="noStrike">
                <a:solidFill>
                  <a:srgbClr val="C6D4E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项目经理）</a:t>
            </a:r>
            <a:endParaRPr lang="zh-CN" altLang="en-US" sz="1500" b="0" i="0" u="none" strike="noStrike">
              <a:solidFill>
                <a:srgbClr val="C6D4E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89707">
            <a:off x="6769100" y="3460760"/>
            <a:ext cx="424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4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9296400" y="1422400"/>
            <a:ext cx="1143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60A5FA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9296400" y="1854200"/>
            <a:ext cx="190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分层架构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9296400" y="2286000"/>
            <a:ext cx="1143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60A5FA"/>
                </a:solidFill>
                <a:latin typeface="Roboto Mono"/>
                <a:ea typeface="Roboto Mono"/>
                <a:cs typeface="Roboto Mono"/>
                <a:sym typeface="Roboto Mono"/>
              </a:rPr>
              <a:t>9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9296400" y="2717800"/>
            <a:ext cx="190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数据库表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9296400" y="3149600"/>
            <a:ext cx="1143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60A5FA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9296400" y="3581400"/>
            <a:ext cx="190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解析维度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9296400" y="4013200"/>
            <a:ext cx="1143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60A5FA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9296400" y="4445000"/>
            <a:ext cx="190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反幻觉校验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9296400" y="4876800"/>
            <a:ext cx="1143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60A5FA"/>
                </a:solidFill>
                <a:latin typeface="Roboto Mono"/>
                <a:ea typeface="Roboto Mono"/>
                <a:cs typeface="Roboto Mono"/>
                <a:sym typeface="Roboto Mono"/>
              </a:rPr>
              <a:t>121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9296400" y="5308600"/>
            <a:ext cx="190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源文件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914400" y="5664200"/>
            <a:ext cx="711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88AA4"/>
                </a:solidFill>
                <a:latin typeface="Roboto Mono"/>
                <a:ea typeface="Roboto Mono"/>
                <a:cs typeface="Roboto Mono"/>
                <a:sym typeface="Roboto Mono"/>
              </a:rPr>
              <a:t>v1.0 / 2026-10 / Python 3.11 · PyQt5 · LangGraph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08635"/>
            <a:ext cx="12192000" cy="58400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3556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 / 目录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652000" y="355600"/>
            <a:ext cx="18288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21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11200" y="635000"/>
            <a:ext cx="10769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七章：从选型理由走到可验证的产物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263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-8594">
            <a:off x="7112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711200" y="18542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320800" y="18034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320800" y="2184400"/>
            <a:ext cx="4470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四类真实痛点，五条不可让渡的设计原则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594">
            <a:off x="711208" y="28892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711200" y="30480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320800" y="29972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系统架构总览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320800" y="3378200"/>
            <a:ext cx="4470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五层分层、ReAct 状态图、进度锚点单调推进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594">
            <a:off x="711208" y="40830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 txBox="1"/>
          <p:nvPr/>
        </p:nvSpPr>
        <p:spPr>
          <a:xfrm>
            <a:off x="711200" y="42418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320800" y="41910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核心功能逐一演示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320800" y="4572000"/>
            <a:ext cx="4470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导入、解析、检索、批注、配置、备份六个模块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8594">
            <a:off x="711208" y="52768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 txBox="1"/>
          <p:nvPr/>
        </p:nvSpPr>
        <p:spPr>
          <a:xfrm>
            <a:off x="711200" y="54356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320800" y="53848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数据库设计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320800" y="5765800"/>
            <a:ext cx="4470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九张表、十八个索引、DAO 只做 CRUD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8594">
            <a:off x="64008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 txBox="1"/>
          <p:nvPr/>
        </p:nvSpPr>
        <p:spPr>
          <a:xfrm>
            <a:off x="6400800" y="18542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7010400" y="18034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创新点与亮点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7010400" y="2184400"/>
            <a:ext cx="4470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架构倒置、读中 Function Calling、三重校验、本地安全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8594">
            <a:off x="6400808" y="28892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 txBox="1"/>
          <p:nvPr/>
        </p:nvSpPr>
        <p:spPr>
          <a:xfrm>
            <a:off x="6400800" y="30480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8594">
            <a:off x="6400808" y="40830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 txBox="1"/>
          <p:nvPr/>
        </p:nvSpPr>
        <p:spPr>
          <a:xfrm>
            <a:off x="7010400" y="3000375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7010400" y="3381375"/>
            <a:ext cx="4470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六项核心贡献，四个下一步方向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400800" y="5283200"/>
            <a:ext cx="5080000" cy="1168400"/>
          </a:xfrm>
          <a:prstGeom prst="roundRect">
            <a:avLst>
              <a:gd name="adj" fmla="val 0"/>
            </a:avLst>
          </a:prstGeom>
          <a:solidFill>
            <a:srgbClr val="E8EE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 txBox="1"/>
          <p:nvPr/>
        </p:nvSpPr>
        <p:spPr>
          <a:xfrm>
            <a:off x="6654800" y="5435600"/>
            <a:ext cx="457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全程量化口径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6654800" y="5715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121 个 Python </a:t>
            </a:r>
            <a:r>
              <a:rPr lang="en-US" sz="1200" b="0" i="0" u="none" strike="noStrike" dirty="0" err="1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源文件</a:t>
            </a:r>
            <a:r>
              <a:rPr lang="en-US" sz="1200" b="0" i="0" u="none" strike="noStrike" dirty="0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9 </a:t>
            </a:r>
            <a:r>
              <a:rPr lang="en-US" sz="1200" b="0" i="0" u="none" strike="noStrike" dirty="0" err="1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张表</a:t>
            </a:r>
            <a:r>
              <a:rPr lang="en-US" sz="1200" b="0" i="0" u="none" strike="noStrike" dirty="0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/ 18 </a:t>
            </a:r>
            <a:r>
              <a:rPr lang="en-US" sz="1200" b="0" i="0" u="none" strike="noStrike" dirty="0" err="1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个索引</a:t>
            </a:r>
            <a:r>
              <a:rPr lang="en-US" sz="1200" b="0" i="0" u="none" strike="noStrike" dirty="0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410 </a:t>
            </a:r>
            <a:r>
              <a:rPr lang="en-US" sz="1200" b="0" i="0" u="none" strike="noStrike" dirty="0" err="1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项基线测试通过</a:t>
            </a:r>
            <a:r>
              <a:rPr lang="en-US" sz="1200" b="0" i="0" u="none" strike="noStrike" dirty="0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en-US" sz="1200" b="0" i="0" u="none" strike="noStrike" dirty="0" err="1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零网络上传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3556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BACKGROUND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652000" y="355600"/>
            <a:ext cx="18288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21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11200" y="635000"/>
            <a:ext cx="10769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四类痛点，收敛为三条硬约束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263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711200" y="1600200"/>
            <a:ext cx="558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371600" y="15494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文献散乱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371600" y="1905000"/>
            <a:ext cx="10109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PDF / DOC / DOCX / TXT 多格式混存，没有统一入口与标签体系，找一篇要翻三层目录。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4053">
            <a:off x="711204" y="23812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711200" y="2540000"/>
            <a:ext cx="558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371600" y="24892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阅读成本高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371600" y="2844800"/>
            <a:ext cx="10109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研究背景、核心观点、研究方法、创新点、研究结论、参考文献六个维度，人工提炼约 20–40 分钟/篇。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4053">
            <a:off x="711204" y="3321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711200" y="3479800"/>
            <a:ext cx="558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371600" y="3429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幻觉无法察觉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371600" y="3784600"/>
            <a:ext cx="10109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现有端到端"上传即返回"链路没有任何校验环节，编造出来的结论与真实结论在界面上长得一样。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4053">
            <a:off x="711204" y="4260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711200" y="4419600"/>
            <a:ext cx="558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371600" y="43688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隐私边界失守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371600" y="4724400"/>
            <a:ext cx="10109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全文、笔记、API 密钥一并上传云端，既缺少合规依据，也无法证明数据未被留存或复用。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4053">
            <a:off x="711204" y="5200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 txBox="1"/>
          <p:nvPr/>
        </p:nvSpPr>
        <p:spPr>
          <a:xfrm>
            <a:off x="711200" y="53848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由此收敛出三条硬约束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711200" y="56642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数据边界：原件、笔记、密钥全程留在本机，网络只承载必要的模型请求。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4267200" y="56642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证据边界：每个结论都要能回溯到原文，说不清出处的结论一律不落盘。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7823200" y="5664200"/>
            <a:ext cx="3657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可用边界：任一环节失败都要有下一级通道，降级需要用户授权而不是静默执行。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3556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ARCHITECTURE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652000" y="355600"/>
            <a:ext cx="18288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/ 21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11200" y="635000"/>
            <a:ext cx="10769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五层架构：层间只调相邻下层，禁止逆向与跨层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263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625600"/>
            <a:ext cx="50800" cy="7366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1625600"/>
            <a:ext cx="107188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939800" y="17272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界面展示层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939800" y="2006600"/>
            <a:ext cx="228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ui/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3454400" y="1752600"/>
            <a:ext cx="782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main_window.py PyQt5 双栏主窗口（无边框自定义窗口）· pages/ 六类功能页面 · widgets/ 通用组件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185419">
            <a:off x="5981700" y="2457648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2" name="AutoShape 12"/>
          <p:cNvSpPr/>
          <p:nvPr/>
        </p:nvSpPr>
        <p:spPr>
          <a:xfrm>
            <a:off x="711200" y="2565400"/>
            <a:ext cx="50800" cy="736600"/>
          </a:xfrm>
          <a:prstGeom prst="roundRect">
            <a:avLst>
              <a:gd name="adj" fmla="val 0"/>
            </a:avLst>
          </a:prstGeom>
          <a:solidFill>
            <a:srgbClr val="2563EB">
              <a:alpha val="7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2565400"/>
            <a:ext cx="107188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939800" y="26670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业务逻辑层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939800" y="2946400"/>
            <a:ext cx="228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business/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3454400" y="2692400"/>
            <a:ext cx="782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literature_import.py 导入 · literature_parse.py 解析 · literature_search.py 检索 · note_manage.py 笔记 · export_backup.py 备份 · system_service.py 配置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185419">
            <a:off x="5981700" y="3397448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8" name="AutoShape 18"/>
          <p:cNvSpPr/>
          <p:nvPr/>
        </p:nvSpPr>
        <p:spPr>
          <a:xfrm>
            <a:off x="711200" y="3505200"/>
            <a:ext cx="50800" cy="736600"/>
          </a:xfrm>
          <a:prstGeom prst="roundRect">
            <a:avLst>
              <a:gd name="adj" fmla="val 0"/>
            </a:avLst>
          </a:prstGeom>
          <a:solidFill>
            <a:srgbClr val="2563EB">
              <a:alpha val="5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3505200"/>
            <a:ext cx="107188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939800" y="36068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Agent 智能体层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939800" y="3886200"/>
            <a:ext cx="228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agent/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3454400" y="3632200"/>
            <a:ext cx="782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graph.py StateGraph 拓扑 · state.py AgentState · director.py 编排器 · tools.py 工具注册表 + FC 多轮循环 · verifiers.py 三重校验 · llm.py 适配层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185419">
            <a:off x="5981700" y="4337248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4" name="AutoShape 24"/>
          <p:cNvSpPr/>
          <p:nvPr/>
        </p:nvSpPr>
        <p:spPr>
          <a:xfrm>
            <a:off x="711200" y="4445000"/>
            <a:ext cx="50800" cy="736600"/>
          </a:xfrm>
          <a:prstGeom prst="roundRect">
            <a:avLst>
              <a:gd name="adj" fmla="val 0"/>
            </a:avLst>
          </a:prstGeom>
          <a:solidFill>
            <a:srgbClr val="2563EB">
              <a:alpha val="3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4445000"/>
            <a:ext cx="107188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 txBox="1"/>
          <p:nvPr/>
        </p:nvSpPr>
        <p:spPr>
          <a:xfrm>
            <a:off x="939800" y="4546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 工具解析层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939800" y="4826000"/>
            <a:ext cx="228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tool_layer/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3454400" y="4572000"/>
            <a:ext cx="782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file_parser.py PDF / DOCX / TXT 文本与元数据提取 · document_vision.py 版式体检 · ai_client.py HTTP 客户端 · text_analysis.py jieba 分词与章节切分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5185419">
            <a:off x="5981700" y="5277048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0" name="AutoShape 30"/>
          <p:cNvSpPr/>
          <p:nvPr/>
        </p:nvSpPr>
        <p:spPr>
          <a:xfrm>
            <a:off x="711200" y="5384800"/>
            <a:ext cx="50800" cy="736600"/>
          </a:xfrm>
          <a:prstGeom prst="roundRect">
            <a:avLst>
              <a:gd name="adj" fmla="val 0"/>
            </a:avLst>
          </a:prstGeom>
          <a:solidFill>
            <a:srgbClr val="2563EB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62000" y="5384800"/>
            <a:ext cx="107188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 txBox="1"/>
          <p:nvPr/>
        </p:nvSpPr>
        <p:spPr>
          <a:xfrm>
            <a:off x="939800" y="54864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⑤ 数据持久层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939800" y="5765800"/>
            <a:ext cx="228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data_layer/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3454400" y="5511800"/>
            <a:ext cx="782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db_connect.py SQLite 单例连接（WAL + 外键 + 忙等待）· db_init.py 9 表建表与种子数据 · dao/ 九张表 DAO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-4053">
            <a:off x="711204" y="624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 txBox="1"/>
          <p:nvPr/>
        </p:nvSpPr>
        <p:spPr>
          <a:xfrm>
            <a:off x="711200" y="6324600"/>
            <a:ext cx="1076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实际允许的调用边：界面→业务、业务→Agent / 工具 / 数据、Agent→工具。工具层到数据层仅为只读旁路，不做写入。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3556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LANGGRAPH STATE MACHINE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652000" y="355600"/>
            <a:ext cx="18288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/ 21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11200" y="635000"/>
            <a:ext cx="10769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ReAct 状态图：reflect 既是下游，也是路由枢纽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263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905000"/>
            <a:ext cx="889000" cy="685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812800" y="2133600"/>
            <a:ext cx="685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Start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06600" y="1905000"/>
            <a:ext cx="1143000" cy="685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2108200" y="1993900"/>
            <a:ext cx="939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plan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2082800" y="2247900"/>
            <a:ext cx="990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版式体检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56000" y="1905000"/>
            <a:ext cx="1143000" cy="685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3657600" y="1993900"/>
            <a:ext cx="939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act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632200" y="2247900"/>
            <a:ext cx="990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执行一个工具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105400" y="1905000"/>
            <a:ext cx="1397000" cy="685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5207000" y="1993900"/>
            <a:ext cx="1193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observe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5207000" y="2247900"/>
            <a:ext cx="1193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结果回灌 state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908800" y="1905000"/>
            <a:ext cx="1143000" cy="685800"/>
          </a:xfrm>
          <a:prstGeom prst="roundRect">
            <a:avLst>
              <a:gd name="adj" fmla="val 0"/>
            </a:avLst>
          </a:prstGeom>
          <a:solidFill>
            <a:srgbClr val="BFD7FF">
              <a:alpha val="55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7010400" y="1993900"/>
            <a:ext cx="939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reflect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6985000" y="2247900"/>
            <a:ext cx="990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E4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路由判断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458200" y="1905000"/>
            <a:ext cx="1016000" cy="685800"/>
          </a:xfrm>
          <a:prstGeom prst="roundRect">
            <a:avLst>
              <a:gd name="adj" fmla="val 0"/>
            </a:avLst>
          </a:prstGeom>
          <a:solidFill>
            <a:srgbClr val="BFD7FF">
              <a:alpha val="55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 txBox="1"/>
          <p:nvPr/>
        </p:nvSpPr>
        <p:spPr>
          <a:xfrm>
            <a:off x="8559800" y="1993900"/>
            <a:ext cx="812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verify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8509000" y="2247900"/>
            <a:ext cx="914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E4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三重校验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982200" y="1905000"/>
            <a:ext cx="1270000" cy="685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 txBox="1"/>
          <p:nvPr/>
        </p:nvSpPr>
        <p:spPr>
          <a:xfrm>
            <a:off x="10083800" y="1993900"/>
            <a:ext cx="1066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finish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0083800" y="2247900"/>
            <a:ext cx="1066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校验通过即收尾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31200" y="4445000"/>
            <a:ext cx="12700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 txBox="1"/>
          <p:nvPr/>
        </p:nvSpPr>
        <p:spPr>
          <a:xfrm>
            <a:off x="8432800" y="4533900"/>
            <a:ext cx="1066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refine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8432800" y="4762500"/>
            <a:ext cx="10668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按维度补救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107394">
            <a:off x="1600299" y="2241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0" name="Connector 30"/>
          <p:cNvCxnSpPr/>
          <p:nvPr/>
        </p:nvCxnSpPr>
        <p:spPr>
          <a:xfrm rot="-107394">
            <a:off x="3149699" y="2241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1" name="Connector 31"/>
          <p:cNvCxnSpPr/>
          <p:nvPr/>
        </p:nvCxnSpPr>
        <p:spPr>
          <a:xfrm rot="-107394">
            <a:off x="4699099" y="2241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2" name="Connector 32"/>
          <p:cNvCxnSpPr/>
          <p:nvPr/>
        </p:nvCxnSpPr>
        <p:spPr>
          <a:xfrm rot="-107394">
            <a:off x="6502499" y="2241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3" name="Connector 33"/>
          <p:cNvCxnSpPr/>
          <p:nvPr/>
        </p:nvCxnSpPr>
        <p:spPr>
          <a:xfrm rot="-107394">
            <a:off x="8051899" y="2241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4" name="Connector 34"/>
          <p:cNvCxnSpPr/>
          <p:nvPr/>
        </p:nvCxnSpPr>
        <p:spPr>
          <a:xfrm rot="-85925">
            <a:off x="9474279" y="22415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35" name="Connector 35"/>
          <p:cNvCxnSpPr/>
          <p:nvPr/>
        </p:nvCxnSpPr>
        <p:spPr>
          <a:xfrm rot="-5532155">
            <a:off x="7315200" y="1733428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Connector 36"/>
          <p:cNvCxnSpPr/>
          <p:nvPr/>
        </p:nvCxnSpPr>
        <p:spPr>
          <a:xfrm rot="10786978">
            <a:off x="4127488" y="1568450"/>
            <a:ext cx="335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Connector 37"/>
          <p:cNvCxnSpPr/>
          <p:nvPr/>
        </p:nvCxnSpPr>
        <p:spPr>
          <a:xfrm rot="5267844">
            <a:off x="3962400" y="17336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8" name="AutoShape 38"/>
          <p:cNvSpPr txBox="1"/>
          <p:nvPr/>
        </p:nvSpPr>
        <p:spPr>
          <a:xfrm>
            <a:off x="7594600" y="1346200"/>
            <a:ext cx="1524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队列不空，继续取证</a:t>
            </a:r>
            <a:endParaRPr lang="en-US" sz="1100"/>
          </a:p>
        </p:txBody>
      </p:sp>
      <p:cxnSp>
        <p:nvCxnSpPr>
          <p:cNvPr id="39" name="Connector 39"/>
          <p:cNvCxnSpPr/>
          <p:nvPr/>
        </p:nvCxnSpPr>
        <p:spPr>
          <a:xfrm rot="5376454">
            <a:off x="8039100" y="3511572"/>
            <a:ext cx="185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40" name="Connector 40"/>
          <p:cNvCxnSpPr/>
          <p:nvPr/>
        </p:nvCxnSpPr>
        <p:spPr>
          <a:xfrm rot="10789614">
            <a:off x="4127490" y="4718050"/>
            <a:ext cx="4203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41" name="Connector 41"/>
          <p:cNvCxnSpPr/>
          <p:nvPr/>
        </p:nvCxnSpPr>
        <p:spPr>
          <a:xfrm rot="-5420462">
            <a:off x="3060700" y="3651231"/>
            <a:ext cx="213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42" name="Connector 42"/>
          <p:cNvCxnSpPr/>
          <p:nvPr/>
        </p:nvCxnSpPr>
        <p:spPr>
          <a:xfrm rot="-42969">
            <a:off x="9601240" y="4718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3" name="Connector 43"/>
          <p:cNvCxnSpPr/>
          <p:nvPr/>
        </p:nvCxnSpPr>
        <p:spPr>
          <a:xfrm rot="-5420462">
            <a:off x="9550400" y="3651231"/>
            <a:ext cx="213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44" name="AutoShape 44"/>
          <p:cNvSpPr txBox="1"/>
          <p:nvPr/>
        </p:nvSpPr>
        <p:spPr>
          <a:xfrm>
            <a:off x="7594600" y="41910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未通过</a:t>
            </a:r>
            <a:endParaRPr lang="en-US" sz="1100"/>
          </a:p>
        </p:txBody>
      </p:sp>
      <p:sp>
        <p:nvSpPr>
          <p:cNvPr id="45" name="AutoShape 45"/>
          <p:cNvSpPr txBox="1"/>
          <p:nvPr/>
        </p:nvSpPr>
        <p:spPr>
          <a:xfrm>
            <a:off x="5588000" y="4800600"/>
            <a:ext cx="1524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有动作，回 act</a:t>
            </a:r>
            <a:endParaRPr lang="en-US" sz="1100"/>
          </a:p>
        </p:txBody>
      </p:sp>
      <p:sp>
        <p:nvSpPr>
          <p:cNvPr id="46" name="AutoShape 46"/>
          <p:cNvSpPr txBox="1"/>
          <p:nvPr/>
        </p:nvSpPr>
        <p:spPr>
          <a:xfrm>
            <a:off x="9779000" y="4800600"/>
            <a:ext cx="1016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无动作，收尾</a:t>
            </a:r>
            <a:endParaRPr lang="en-US" sz="1100"/>
          </a:p>
        </p:txBody>
      </p:sp>
      <p:cxnSp>
        <p:nvCxnSpPr>
          <p:cNvPr id="47" name="Connector 47"/>
          <p:cNvCxnSpPr/>
          <p:nvPr/>
        </p:nvCxnSpPr>
        <p:spPr>
          <a:xfrm rot="-4053">
            <a:off x="711204" y="5276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" name="AutoShape 48"/>
          <p:cNvSpPr txBox="1"/>
          <p:nvPr/>
        </p:nvSpPr>
        <p:spPr>
          <a:xfrm>
            <a:off x="711200" y="5410200"/>
            <a:ext cx="1076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实线段为正常推进，虚线段为异常补救；浅蓝底框表示决策与校验节点，白底框表示执行动作节点。</a:t>
            </a:r>
            <a:endParaRPr lang="en-US" sz="1100"/>
          </a:p>
        </p:txBody>
      </p:sp>
      <p:sp>
        <p:nvSpPr>
          <p:cNvPr id="49" name="AutoShape 49"/>
          <p:cNvSpPr txBox="1"/>
          <p:nvPr/>
        </p:nvSpPr>
        <p:spPr>
          <a:xfrm>
            <a:off x="711200" y="5740400"/>
            <a:ext cx="1076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拓扑固定为 plan → act → observe → reflect ⇄ verify → finish 五段循环；reflect 既能回到 act 继续取证，也能在队列清空时交给 verify，是全图唯一的双向枢纽。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3556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FEATURE 01 · IMPORT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652000" y="355600"/>
            <a:ext cx="18288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/ 21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11200" y="635000"/>
            <a:ext cx="10769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导入管道五步走：校验、去重、提取、入库、留痕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263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711200" y="1498600"/>
            <a:ext cx="25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66800" y="1447800"/>
            <a:ext cx="419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文件校验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66800" y="1727200"/>
            <a:ext cx="419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扩展名白名单、体积上限、损坏探测三项全过才进管道，坏文件在入口就被挡掉。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209210">
            <a:off x="698500" y="23433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711200" y="2463800"/>
            <a:ext cx="25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066800" y="2413000"/>
            <a:ext cx="419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SHA256 哈希去重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066800" y="2692400"/>
            <a:ext cx="419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按内容哈希命中已有记录时，按用户策略跳过或覆盖，同一篇文献不会存两份实体。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209210">
            <a:off x="698500" y="33085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711200" y="3429000"/>
            <a:ext cx="25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066800" y="3378200"/>
            <a:ext cx="419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文本与元数据提取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066800" y="3657600"/>
            <a:ext cx="419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PDF 走 pdfplumber、DOCX 走 python-docx、DOC 先转 docx、TXT 直读，返回文本与文献类型。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209210">
            <a:off x="698500" y="42737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711200" y="4394200"/>
            <a:ext cx="25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066800" y="4343400"/>
            <a:ext cx="419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受管目录入库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066800" y="4622800"/>
            <a:ext cx="419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原件复制进应用数据目录，数据库只存相对路径，换机器或移动目录都不会失效。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209210">
            <a:off x="698500" y="52389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 txBox="1"/>
          <p:nvPr/>
        </p:nvSpPr>
        <p:spPr>
          <a:xfrm>
            <a:off x="711200" y="5359400"/>
            <a:ext cx="25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066800" y="5308600"/>
            <a:ext cx="419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写库与留痕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066800" y="5588000"/>
            <a:ext cx="419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 literature_info 并追加 operation_log，事后可追溯谁在什么时间导入了什么。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740400" y="1498600"/>
            <a:ext cx="5740400" cy="378460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 txBox="1"/>
          <p:nvPr/>
        </p:nvSpPr>
        <p:spPr>
          <a:xfrm>
            <a:off x="5918200" y="1600200"/>
            <a:ext cx="5384800" cy="358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# business/literature_import.py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def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import_single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file_path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, policy):</a:t>
            </a: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# 1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校验：扩展名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 /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体积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 /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损坏</a:t>
            </a: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valid, reason =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validate_file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file_path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if not valid: return INVALID, None, reason</a:t>
            </a: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# 2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去重：内容哈希命中即跳过或覆盖</a:t>
            </a: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h =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calc_file_hash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safe_path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existing =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lit_dao.select_by_hash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(h)</a:t>
            </a: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# 3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提取：按格式分派到不同解析器</a:t>
            </a: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text, meta, kind =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file_parser.auto_extract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# 4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入库：复制到受管目录，只存相对路径</a:t>
            </a: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dst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unique_dst_path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base_dir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, name)</a:t>
            </a: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safe_copy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safe_path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dst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# 5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留痕：写主表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 +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操作日志</a:t>
            </a: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lit_id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lit_dao.insert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lit_info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write_operation_log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(OP_IMPORT,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lit_id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return SUCCESS, 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lit_info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, "</a:t>
            </a:r>
            <a:r>
              <a:rPr lang="en-US" sz="900" b="0" i="0" u="none" strike="noStrike" dirty="0" err="1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导入成功</a:t>
            </a:r>
            <a:r>
              <a:rPr lang="en-US" sz="900" b="0" i="0" u="none" strike="noStrike" dirty="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 lang="en-US" sz="900" b="0" i="0" u="none" strike="noStrike" dirty="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5740400" y="5461000"/>
            <a:ext cx="5740400" cy="736600"/>
          </a:xfrm>
          <a:prstGeom prst="roundRect">
            <a:avLst>
              <a:gd name="adj" fmla="val 0"/>
            </a:avLst>
          </a:prstGeom>
          <a:solidFill>
            <a:srgbClr val="E8EE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 txBox="1"/>
          <p:nvPr/>
        </p:nvSpPr>
        <p:spPr>
          <a:xfrm>
            <a:off x="5943600" y="5562600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旧版 .doc 经本机 Word / WPS（COM）或 LibreOffice 转为临时 .docx，提取完成后立即删除临时文件；全过程零网络上传。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3556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FEATURE 02 · AGENT PARSE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652000" y="355600"/>
            <a:ext cx="18288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/ 21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11200" y="635000"/>
            <a:ext cx="10769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首轮即排原件直传，AI 通读中自行调工具取证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263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711200" y="1524000"/>
            <a:ext cx="304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①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17600" y="1473200"/>
            <a:ext cx="419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版式体检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117600" y="1752600"/>
            <a:ext cx="426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document_vision 先判定双栏、扫描件、表格页，为后续取证给出方向，不直接下结论。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341">
            <a:off x="711209" y="2482850"/>
            <a:ext cx="467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711200" y="2641600"/>
            <a:ext cx="304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②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117600" y="2590800"/>
            <a:ext cx="419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原件直传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117600" y="2870200"/>
            <a:ext cx="426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file_id 托管或 file_data（PDF Base64 内联）二选一，把整份 PDF 二进制交给模型，而不是先转成纯文本。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341">
            <a:off x="711209" y="3600450"/>
            <a:ext cx="467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711200" y="3759200"/>
            <a:ext cx="304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③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117600" y="3708400"/>
            <a:ext cx="419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读中 Function Calling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117600" y="3987800"/>
            <a:ext cx="426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模型自主决定何时调 extract_tables / ocr_page / extract_text / detect_structure，结果在本地执行后回灌上下文。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341">
            <a:off x="711209" y="4718050"/>
            <a:ext cx="467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711200" y="4876800"/>
            <a:ext cx="304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④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117600" y="4826000"/>
            <a:ext cx="419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六维度 JSON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117600" y="5105400"/>
            <a:ext cx="426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内容通过 JSON 结构校验后归一化，交给 verifier 校验，再落 literature_report 表。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341">
            <a:off x="711209" y="5835650"/>
            <a:ext cx="467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 txBox="1"/>
          <p:nvPr/>
        </p:nvSpPr>
        <p:spPr>
          <a:xfrm>
            <a:off x="711200" y="5943600"/>
            <a:ext cx="4673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单次解析全程仅 1 次 AI 通读调用；本地预处理不再是必经环节，只作为条件尾部兜底。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740400" y="1498600"/>
            <a:ext cx="5740400" cy="274320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 txBox="1"/>
          <p:nvPr/>
        </p:nvSpPr>
        <p:spPr>
          <a:xfrm>
            <a:off x="5918200" y="1600200"/>
            <a:ext cx="53848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# agent/tools.py · Plan A 读中 FC 循环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def _run_cohabit(self, file_item):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msgs = [system_prompt,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{"role":"user","content":[file_item, task]}]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while rounds &lt; MAX_ROUNDS: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resp = self._chat(msgs, FC_TOOLS)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calls = resp.get("tool_calls")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if calls: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self._execute_calls(msgs, calls)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continue # 结果回灌，继续通读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if is_valid_json(resp["content"]):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return resp["content"], rounds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raise StagedFallback # 网关不支持同框 → Plan B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" name="AutoShape 25"/>
          <p:cNvSpPr txBox="1"/>
          <p:nvPr/>
        </p:nvSpPr>
        <p:spPr>
          <a:xfrm>
            <a:off x="5740400" y="4419600"/>
            <a:ext cx="5740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安全边界（防止模型无限取证）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5740400" y="4724400"/>
            <a:ext cx="5740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工具轮数上限 5 轮，总调用次数上限 8 次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5740400" y="5054600"/>
            <a:ext cx="5740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单工具结果截断 6000 字符，尾部保留 1000 字符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5740400" y="5384800"/>
            <a:ext cx="5740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同（工具 + 参数）签名去重，不重复执行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5740400" y="5715000"/>
            <a:ext cx="5740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页码越界直接返回错误，让模型改道重新取证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7605">
            <a:off x="5740407" y="4311650"/>
            <a:ext cx="574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3556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FEATURE 02 · FALLBACK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652000" y="355600"/>
            <a:ext cx="18288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/ 21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11200" y="635000"/>
            <a:ext cx="10769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三级降级永不闪退，原件可信时走信任旁路提速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263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498600"/>
            <a:ext cx="3302000" cy="11176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914400" y="1625600"/>
            <a:ext cx="292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① 原件直传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914400" y="1905000"/>
            <a:ext cx="2946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E2E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file_id 托管或 file_data 内联，模型看到完整版式，六维度质量最高。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5468">
            <a:off x="4013288" y="2051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0" name="AutoShape 10"/>
          <p:cNvSpPr/>
          <p:nvPr/>
        </p:nvSpPr>
        <p:spPr>
          <a:xfrm>
            <a:off x="4470400" y="1498600"/>
            <a:ext cx="3302000" cy="1117600"/>
          </a:xfrm>
          <a:prstGeom prst="roundRect">
            <a:avLst>
              <a:gd name="adj" fmla="val 0"/>
            </a:avLst>
          </a:prstGeom>
          <a:solidFill>
            <a:srgbClr val="BFD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4673600" y="1625600"/>
            <a:ext cx="292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② 全文文本通道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4673600" y="1905000"/>
            <a:ext cx="2946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1E4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原件通道被网关拒绝时，弹窗征询用户授权后改用纯文本通读。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5468">
            <a:off x="7772488" y="2051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4" name="AutoShape 14"/>
          <p:cNvSpPr/>
          <p:nvPr/>
        </p:nvSpPr>
        <p:spPr>
          <a:xfrm>
            <a:off x="8229600" y="1498600"/>
            <a:ext cx="32512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8432800" y="1625600"/>
            <a:ext cx="2870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③ 纯本地规则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8432800" y="1905000"/>
            <a:ext cx="28956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无模型或 AI 致命错误时，jieba 分词 + 章节规则产出六维度，功能不中断。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711200" y="2692400"/>
            <a:ext cx="1076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降级顺序固定：① 失败才进 ②（需授权），② 仍失败自动进 ③；三段都能产出结果，区别只在信息完整度。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4053">
            <a:off x="711204" y="3041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 txBox="1"/>
          <p:nvPr/>
        </p:nvSpPr>
        <p:spPr>
          <a:xfrm>
            <a:off x="711200" y="3175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信任旁路 · TRUST BYPASS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711200" y="34798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触发条件：原件通读成功 + 启用的维度齐全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711200" y="3810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state.ai_original_trusted 置为 True 后，三重校验只跑完整性；一致性与原文溯源直接跳过。理由：线性纯文本没有资格裁判含版式与表格的原件结果，硬拿本地文本去否证 AI，误伤多于纠错。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711200" y="48006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效果：省掉一次 Jaccard 计算与一次双向覆盖扫描，用户侧感知为解析明显更快。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740400" y="3124200"/>
            <a:ext cx="5740400" cy="223520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 txBox="1"/>
          <p:nvPr/>
        </p:nvSpPr>
        <p:spPr>
          <a:xfrm>
            <a:off x="5918200" y="3200400"/>
            <a:ext cx="5384800" cy="208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# agent/verifiers.py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def run_all_verifications(state):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if state.get("ai_original_trusted"):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missing = verify_completeness(...)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return {"passed": not missing,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"trusted_original": True}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missing = verify_completeness(...)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problems = verify_consistency(...)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bad_cits = verify_traceability(...)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return {"passed": not missing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and not problems and not bad_cits}</a:t>
            </a:r>
            <a:endParaRPr lang="en-US" sz="900" b="0" i="0" u="none" strike="noStrike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" name="AutoShape 25"/>
          <p:cNvSpPr txBox="1"/>
          <p:nvPr/>
        </p:nvSpPr>
        <p:spPr>
          <a:xfrm>
            <a:off x="5740400" y="5511800"/>
            <a:ext cx="5740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信任旁路只在原件通道成功时生效，降级链路一律走完整三重校验。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3556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DATA · SCHEMA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652000" y="355600"/>
            <a:ext cx="18288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 / 21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11200" y="635000"/>
            <a:ext cx="10769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九张表分三层：主数据、关系规则、系统运维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263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711200" y="1498600"/>
            <a:ext cx="457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 · 主数据：一次文献处理的完整留痕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11200" y="1803400"/>
            <a:ext cx="228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41400" y="17780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literature_info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3403600" y="1778000"/>
            <a:ext cx="2590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文献主表：元数据、路径、解析状态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711200" y="2159000"/>
            <a:ext cx="228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041400" y="2133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literature_report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403600" y="2133600"/>
            <a:ext cx="2590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六维度报告、校验结论、置信水平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11200" y="2514600"/>
            <a:ext cx="228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041400" y="24892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literature_note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3403600" y="2489200"/>
            <a:ext cx="2590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批注锚点、坐标区间、正文内容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8303">
            <a:off x="711208" y="2889250"/>
            <a:ext cx="525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 txBox="1"/>
          <p:nvPr/>
        </p:nvSpPr>
        <p:spPr>
          <a:xfrm>
            <a:off x="711200" y="3022600"/>
            <a:ext cx="457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 · 关系与规则：多对多怎么落库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711200" y="3327400"/>
            <a:ext cx="228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041400" y="33020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category_tag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3403600" y="3302000"/>
            <a:ext cx="2590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分类与标签同表，parent_id 自关联成树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711200" y="3683000"/>
            <a:ext cx="228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1041400" y="3657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literature_tag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3403600" y="3657600"/>
            <a:ext cx="2590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文献与标签的关联表，联合唯一约束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711200" y="4038600"/>
            <a:ext cx="228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041400" y="40132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parse_rule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3403600" y="4013200"/>
            <a:ext cx="2590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解析规则与提示词模板，可按学科切换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8303">
            <a:off x="711208" y="4413250"/>
            <a:ext cx="525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 txBox="1"/>
          <p:nvPr/>
        </p:nvSpPr>
        <p:spPr>
          <a:xfrm>
            <a:off x="711200" y="4546600"/>
            <a:ext cx="457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 · 系统与运维：可配置、可追溯、可回滚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711200" y="4851400"/>
            <a:ext cx="228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07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1041400" y="48260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system_config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3403600" y="4826000"/>
            <a:ext cx="2590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模型列表、备份周期、通道选择等键值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711200" y="5207000"/>
            <a:ext cx="228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08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1041400" y="5181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operation_log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3403600" y="5181600"/>
            <a:ext cx="2590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导入 / 删除 / 恢复等写操作留痕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711200" y="5562600"/>
            <a:ext cx="228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09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1041400" y="55372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backup_record</a:t>
            </a:r>
            <a:endParaRPr lang="en-US" sz="1100"/>
          </a:p>
        </p:txBody>
      </p:sp>
      <p:sp>
        <p:nvSpPr>
          <p:cNvPr id="37" name="AutoShape 37"/>
          <p:cNvSpPr txBox="1"/>
          <p:nvPr/>
        </p:nvSpPr>
        <p:spPr>
          <a:xfrm>
            <a:off x="3403600" y="5537200"/>
            <a:ext cx="2590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备份名称、路径、大小、类型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5390233">
            <a:off x="4114800" y="3727459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 txBox="1"/>
          <p:nvPr/>
        </p:nvSpPr>
        <p:spPr>
          <a:xfrm>
            <a:off x="6705600" y="14986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关系骨架 · 四条一对多 + 一条多对多</a:t>
            </a:r>
            <a:endParaRPr lang="en-US" sz="1100"/>
          </a:p>
        </p:txBody>
      </p:sp>
      <p:sp>
        <p:nvSpPr>
          <p:cNvPr id="40" name="AutoShape 40"/>
          <p:cNvSpPr txBox="1"/>
          <p:nvPr/>
        </p:nvSpPr>
        <p:spPr>
          <a:xfrm>
            <a:off x="6705600" y="1854200"/>
            <a:ext cx="4775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literature_info 1 —— N literature_report</a:t>
            </a:r>
            <a:endParaRPr lang="en-US" sz="1100"/>
          </a:p>
        </p:txBody>
      </p:sp>
      <p:sp>
        <p:nvSpPr>
          <p:cNvPr id="41" name="AutoShape 41"/>
          <p:cNvSpPr txBox="1"/>
          <p:nvPr/>
        </p:nvSpPr>
        <p:spPr>
          <a:xfrm>
            <a:off x="6705600" y="2235200"/>
            <a:ext cx="4775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literature_info 1 —— N literature_note</a:t>
            </a:r>
            <a:endParaRPr lang="en-US" sz="1100"/>
          </a:p>
        </p:txBody>
      </p:sp>
      <p:sp>
        <p:nvSpPr>
          <p:cNvPr id="42" name="AutoShape 42"/>
          <p:cNvSpPr txBox="1"/>
          <p:nvPr/>
        </p:nvSpPr>
        <p:spPr>
          <a:xfrm>
            <a:off x="6705600" y="2616200"/>
            <a:ext cx="4775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literature_info N —— N category_tag</a:t>
            </a:r>
            <a:endParaRPr lang="en-US" sz="1100"/>
          </a:p>
        </p:txBody>
      </p:sp>
      <p:sp>
        <p:nvSpPr>
          <p:cNvPr id="43" name="AutoShape 43"/>
          <p:cNvSpPr txBox="1"/>
          <p:nvPr/>
        </p:nvSpPr>
        <p:spPr>
          <a:xfrm>
            <a:off x="6705600" y="2997200"/>
            <a:ext cx="4775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literature_info 1 —— N operation_log</a:t>
            </a:r>
            <a:endParaRPr lang="en-US" sz="1100"/>
          </a:p>
        </p:txBody>
      </p:sp>
      <p:sp>
        <p:nvSpPr>
          <p:cNvPr id="44" name="AutoShape 44"/>
          <p:cNvSpPr txBox="1"/>
          <p:nvPr/>
        </p:nvSpPr>
        <p:spPr>
          <a:xfrm>
            <a:off x="6705600" y="3378200"/>
            <a:ext cx="4775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category_tag 1 —— N category_tag</a:t>
            </a:r>
            <a:endParaRPr lang="en-US" sz="1100"/>
          </a:p>
        </p:txBody>
      </p:sp>
      <p:cxnSp>
        <p:nvCxnSpPr>
          <p:cNvPr id="45" name="Connector 45"/>
          <p:cNvCxnSpPr/>
          <p:nvPr/>
        </p:nvCxnSpPr>
        <p:spPr>
          <a:xfrm rot="-9142">
            <a:off x="6705608" y="3854450"/>
            <a:ext cx="477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AutoShape 46"/>
          <p:cNvSpPr txBox="1"/>
          <p:nvPr/>
        </p:nvSpPr>
        <p:spPr>
          <a:xfrm>
            <a:off x="6705600" y="4013200"/>
            <a:ext cx="477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三个约束设计</a:t>
            </a:r>
            <a:endParaRPr lang="en-US" sz="1100"/>
          </a:p>
        </p:txBody>
      </p:sp>
      <p:sp>
        <p:nvSpPr>
          <p:cNvPr id="47" name="AutoShape 47"/>
          <p:cNvSpPr txBox="1"/>
          <p:nvPr/>
        </p:nvSpPr>
        <p:spPr>
          <a:xfrm>
            <a:off x="6705600" y="4343400"/>
            <a:ext cx="4775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外键统一 ON DELETE CASCADE，删文献时报告、批注、标签关联自动清理，不留孤儿行。</a:t>
            </a:r>
            <a:endParaRPr lang="en-US" sz="1100"/>
          </a:p>
        </p:txBody>
      </p:sp>
      <p:sp>
        <p:nvSpPr>
          <p:cNvPr id="48" name="AutoShape 48"/>
          <p:cNvSpPr txBox="1"/>
          <p:nvPr/>
        </p:nvSpPr>
        <p:spPr>
          <a:xfrm>
            <a:off x="6705600" y="4953000"/>
            <a:ext cx="4775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18 个索引集中打在查询热路径：create_time、type、is_parsed 与两张关联表的复合列。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6705600" y="5511800"/>
            <a:ext cx="4775200" cy="482600"/>
          </a:xfrm>
          <a:prstGeom prst="roundRect">
            <a:avLst>
              <a:gd name="adj" fmla="val 0"/>
            </a:avLst>
          </a:prstGeom>
          <a:solidFill>
            <a:srgbClr val="E8EE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AutoShape 50"/>
          <p:cNvSpPr txBox="1"/>
          <p:nvPr/>
        </p:nvSpPr>
        <p:spPr>
          <a:xfrm>
            <a:off x="6883400" y="55880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Schema 版本 4：启动时比对版本号，只跑缺失的增量升级脚本。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3556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/ HIGHLIGHTS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652000" y="355600"/>
            <a:ext cx="18288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16 / 21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11200" y="635000"/>
            <a:ext cx="10769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五个和常见做法不一样的地方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263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5389948">
            <a:off x="-1181100" y="3689359"/>
            <a:ext cx="434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711200" y="1498600"/>
            <a:ext cx="279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270000" y="14732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架构倒置：AI 主导，本地预处理降为条件尾部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270000" y="18288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版式体检 → 原件直传 → AI 通读中自主调中间件。单次解析全程只 1 次 AI 通读，AI 拿到的版式信息不被本地正则误判污染。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275">
            <a:off x="1270004" y="2330450"/>
            <a:ext cx="10210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711200" y="2438400"/>
            <a:ext cx="279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270000" y="2413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读中 Function Calling 循环，形成取证闭环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270000" y="27686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自主决定何时调用 extract_tables / ocr_page / detect_structure，工具结果回灌对话上下文后继续通读，而非一次性盲读。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4275">
            <a:off x="1270004" y="3270250"/>
            <a:ext cx="10210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 txBox="1"/>
          <p:nvPr/>
        </p:nvSpPr>
        <p:spPr>
          <a:xfrm>
            <a:off x="711200" y="3378200"/>
            <a:ext cx="279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270000" y="33528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三重反幻觉校验，把"像不像原文"变成可计算量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270000" y="37084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完整性（每个维度有内容）+ 一致性（Jaccard ≥ 0.12 且长度不悬殊）+ 原文溯源（双向覆盖率），AI 成功时可走信任旁路提速。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4275">
            <a:off x="1270004" y="4210050"/>
            <a:ext cx="10210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 txBox="1"/>
          <p:nvPr/>
        </p:nvSpPr>
        <p:spPr>
          <a:xfrm>
            <a:off x="711200" y="4318000"/>
            <a:ext cx="279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270000" y="42926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进度双泳道，任何链路下百分比单调不减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270000" y="46482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constants.py 是进度的单一事实来源，Director 为每个动作打 _pct_start / _pct_end 锚点，补跑、降级、重试都不会让进度条倒退。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4275">
            <a:off x="1270004" y="5149850"/>
            <a:ext cx="10210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 txBox="1"/>
          <p:nvPr/>
        </p:nvSpPr>
        <p:spPr>
          <a:xfrm>
            <a:off x="711200" y="5257800"/>
            <a:ext cx="279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270000" y="52324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全程本地原生安全，降级必须用户授权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270000" y="55880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密钥 Fernet 加密且与数据库分离、文献原件不出本机、从原件通道降级到全文文本必须弹窗征询，不做静默切换。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4053">
            <a:off x="711204" y="60642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 txBox="1"/>
          <p:nvPr/>
        </p:nvSpPr>
        <p:spPr>
          <a:xfrm>
            <a:off x="711200" y="6146800"/>
            <a:ext cx="10769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5361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共性：每一条都对应一处可验证的工程约束，不是概念包装——阈值、锚点、授权点都能在代码与日志里指到具体位置。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3556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BFD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/ SUMMARY · END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652000" y="355600"/>
            <a:ext cx="18288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21 / 21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1219200"/>
            <a:ext cx="609600" cy="381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711200" y="1498600"/>
            <a:ext cx="10769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 Agent 编排 AI，本地中间件负责取证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11200" y="2743200"/>
            <a:ext cx="914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50" b="0" i="0" u="none" strike="noStrike">
                <a:solidFill>
                  <a:srgbClr val="BFD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把文献解析从「上传 → 返回」的黑盒，做成可解释、可校验、可降级的桌面工具：原件不出本机，AI 只做语义理解这一件事。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053">
            <a:off x="711204" y="3803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7556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711200" y="4013200"/>
            <a:ext cx="228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0A5FA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11200" y="4318000"/>
            <a:ext cx="254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121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711200" y="5080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 Python 源文件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556000" y="4013200"/>
            <a:ext cx="228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0A5FA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556000" y="4318000"/>
            <a:ext cx="254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410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556000" y="5080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 pytest 基线全部通过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400800" y="4013200"/>
            <a:ext cx="228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0A5FA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400800" y="4318000"/>
            <a:ext cx="254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9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400800" y="5080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张表 · Schema 版本 4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9245600" y="4013200"/>
            <a:ext cx="228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0A5FA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9245600" y="4318000"/>
            <a:ext cx="254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9245600" y="5080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级降级 · 任何链路都出结果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4053">
            <a:off x="711204" y="5734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7556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 txBox="1"/>
          <p:nvPr/>
        </p:nvSpPr>
        <p:spPr>
          <a:xfrm>
            <a:off x="711200" y="58928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BFD7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内容依据：literature-agent-demo.html 全七章 · 数据与阈值均取自原文与 assets/charts.js，未做改动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8636000" y="5892800"/>
            <a:ext cx="2844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文献阅读整理 Agent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6010</Words>
  <Application>WPS 演示</Application>
  <PresentationFormat>宽屏</PresentationFormat>
  <Paragraphs>518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Arial</vt:lpstr>
      <vt:lpstr>Noto Sans SC</vt:lpstr>
      <vt:lpstr>Roboto Mono</vt:lpstr>
      <vt:lpstr>FFont-Family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1670098686</cp:lastModifiedBy>
  <cp:revision>4</cp:revision>
  <dcterms:created xsi:type="dcterms:W3CDTF">2026-10-27T11:53:00Z</dcterms:created>
  <dcterms:modified xsi:type="dcterms:W3CDTF">2026-10-29T06:32:50Z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4945257B46764FDBBCA3D05686AA402F_12</vt:lpwstr>
  </property>
  <property fmtid="{D5CDD505-2E9C-101B-9397-08002B2CF9AE}" pid="3" name="KSOProductBuildVer">
    <vt:lpwstr>2052-12.1.0.29158</vt:lpwstr>
  </property>
</Properties>
</file>